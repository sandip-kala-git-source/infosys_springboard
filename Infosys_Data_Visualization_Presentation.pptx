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17"/>
  </p:notesMasterIdLst>
  <p:sldIdLst>
    <p:sldId id="27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4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A45CAB-7A95-4871-9B9C-816DD15252A3}" type="datetimeFigureOut">
              <a:rPr lang="en-IN" smtClean="0"/>
              <a:t>21-08-2026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514D97-F6A7-4285-82D5-D5A49D41BFD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9762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14D97-F6A7-4285-82D5-D5A49D41BFD8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5258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14D97-F6A7-4285-82D5-D5A49D41BFD8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6269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14D97-F6A7-4285-82D5-D5A49D41BFD8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5130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14D97-F6A7-4285-82D5-D5A49D41BFD8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7289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14D97-F6A7-4285-82D5-D5A49D41BFD8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87667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14D97-F6A7-4285-82D5-D5A49D41BFD8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3947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14D97-F6A7-4285-82D5-D5A49D41BFD8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005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4449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944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4146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4071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7550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69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3868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12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8524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981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878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3227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09327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8410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21042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2865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1065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34268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5218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18624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95146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21815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80961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3251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1076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0597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823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45391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726" r:id="rId26"/>
    <p:sldLayoutId id="2147483727" r:id="rId27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5FB9D-F362-5722-2192-009225517D2E}"/>
              </a:ext>
            </a:extLst>
          </p:cNvPr>
          <p:cNvSpPr txBox="1"/>
          <p:nvPr/>
        </p:nvSpPr>
        <p:spPr>
          <a:xfrm>
            <a:off x="914400" y="509873"/>
            <a:ext cx="9875520" cy="108337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3400" b="1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CYBERSECURITY THREAT ANALYTICS</a:t>
            </a:r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&amp; INCIDENT MANAGEMENT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2FBC87-AF75-58C3-7EE7-5ED5FBF3563A}"/>
              </a:ext>
            </a:extLst>
          </p:cNvPr>
          <p:cNvSpPr txBox="1"/>
          <p:nvPr/>
        </p:nvSpPr>
        <p:spPr>
          <a:xfrm>
            <a:off x="1677383" y="1853684"/>
            <a:ext cx="8046720" cy="34471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000" b="1">
                <a:solidFill>
                  <a:srgbClr val="BAE6FD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Power BI Dashboard P</a:t>
            </a:r>
            <a:r>
              <a:rPr lang="en-US" dirty="0">
                <a:solidFill>
                  <a:srgbClr val="002060"/>
                </a:solidFill>
              </a:rPr>
              <a:t>resentation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AA588C-0430-4A0B-851E-CD1078E94510}"/>
              </a:ext>
            </a:extLst>
          </p:cNvPr>
          <p:cNvSpPr txBox="1"/>
          <p:nvPr/>
        </p:nvSpPr>
        <p:spPr>
          <a:xfrm>
            <a:off x="1130709" y="2351782"/>
            <a:ext cx="880970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IN" sz="3200" b="1" kern="1400" spc="-5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Advanced Threat Incident Analytics and Security Visualization Framework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2F78DE-9CE1-441F-1C93-382E818454DF}"/>
              </a:ext>
            </a:extLst>
          </p:cNvPr>
          <p:cNvSpPr txBox="1"/>
          <p:nvPr/>
        </p:nvSpPr>
        <p:spPr>
          <a:xfrm>
            <a:off x="2487561" y="3512916"/>
            <a:ext cx="6096000" cy="532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VISUALIZATION GROUP-2 BATCH-1</a:t>
            </a:r>
            <a:endParaRPr lang="en-IN" sz="2800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892920-E4FB-E57F-DFC8-E6E221553FFD}"/>
              </a:ext>
            </a:extLst>
          </p:cNvPr>
          <p:cNvSpPr txBox="1"/>
          <p:nvPr/>
        </p:nvSpPr>
        <p:spPr>
          <a:xfrm>
            <a:off x="2391205" y="4310985"/>
            <a:ext cx="6096000" cy="1096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Submitted by</a:t>
            </a:r>
            <a:endParaRPr lang="en-IN" sz="28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Sandip Kala</a:t>
            </a:r>
            <a:endParaRPr lang="en-IN" sz="28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018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ptos Display"/>
              </a:defRPr>
            </a:pPr>
            <a:r>
              <a:rPr dirty="0"/>
              <a:t>Presentation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881360" cy="960263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just">
              <a:defRPr sz="1600" b="0">
                <a:solidFill>
                  <a:srgbClr val="334155"/>
                </a:solidFill>
                <a:latin typeface="Aptos"/>
              </a:defRPr>
            </a:pPr>
            <a:r>
              <a:rPr sz="2000" dirty="0"/>
              <a:t>The dashboard suite is structured as a decision-support workflow: understand the overall risk, classify threats, study when and where incidents occur, assess response performance, and use predictive indicators for forward-looking 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5257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6400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04671" y="2093976"/>
            <a:ext cx="493776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1  Executive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450591"/>
            <a:ext cx="493776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sz="1400" dirty="0"/>
              <a:t>Leadership-level security posture and risk summary.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65960"/>
            <a:ext cx="5257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6263640" y="1965960"/>
            <a:ext cx="64008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428232" y="2093976"/>
            <a:ext cx="493776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2  Security Risk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450591"/>
            <a:ext cx="493776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sz="1400" dirty="0"/>
              <a:t>Risk distribution, exposure, severity and concentration.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953512"/>
            <a:ext cx="5257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640080" y="2953512"/>
            <a:ext cx="64008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804671" y="3081528"/>
            <a:ext cx="493776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3  Threat Classification &amp; Geospatial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3438144"/>
            <a:ext cx="493776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sz="1400" dirty="0"/>
              <a:t>Threat types, cities, severity and response patterns.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953512"/>
            <a:ext cx="5257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Rectangle 19"/>
          <p:cNvSpPr/>
          <p:nvPr/>
        </p:nvSpPr>
        <p:spPr>
          <a:xfrm>
            <a:off x="6263640" y="2953512"/>
            <a:ext cx="64008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6428232" y="3081528"/>
            <a:ext cx="493776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4  Temporal Incident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438144"/>
            <a:ext cx="493776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sz="1400" dirty="0"/>
              <a:t>Seasonal, monthly, weekly, daily and hourly patterns.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941064"/>
            <a:ext cx="5257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Rectangle 23"/>
          <p:cNvSpPr/>
          <p:nvPr/>
        </p:nvSpPr>
        <p:spPr>
          <a:xfrm>
            <a:off x="640080" y="3941064"/>
            <a:ext cx="64008" cy="822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804671" y="4069080"/>
            <a:ext cx="493776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5  Incident Response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4425696"/>
            <a:ext cx="493776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sz="1400" dirty="0"/>
              <a:t>Open/closed incidents, response and resolution efficiency.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941064"/>
            <a:ext cx="5257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Rectangle 27"/>
          <p:cNvSpPr/>
          <p:nvPr/>
        </p:nvSpPr>
        <p:spPr>
          <a:xfrm>
            <a:off x="6263640" y="3941064"/>
            <a:ext cx="64008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6428232" y="4069080"/>
            <a:ext cx="493776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6  Predictive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4425696"/>
            <a:ext cx="493776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sz="1400" dirty="0"/>
              <a:t>Risk probability, predicted risk and emerging patterns.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928616"/>
            <a:ext cx="5257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Rectangle 31"/>
          <p:cNvSpPr/>
          <p:nvPr/>
        </p:nvSpPr>
        <p:spPr>
          <a:xfrm>
            <a:off x="640080" y="4928616"/>
            <a:ext cx="6400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804671" y="5056632"/>
            <a:ext cx="493776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7  Interactive Threat Analytics &amp; Incident Management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" y="5413248"/>
            <a:ext cx="493776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sz="1400" dirty="0"/>
              <a:t>Interactive incident, threat and location monitoring.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4928616"/>
            <a:ext cx="5257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6" name="Rectangle 35"/>
          <p:cNvSpPr/>
          <p:nvPr/>
        </p:nvSpPr>
        <p:spPr>
          <a:xfrm>
            <a:off x="6263640" y="4928616"/>
            <a:ext cx="64008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TextBox 36"/>
          <p:cNvSpPr txBox="1"/>
          <p:nvPr/>
        </p:nvSpPr>
        <p:spPr>
          <a:xfrm>
            <a:off x="6428232" y="5056632"/>
            <a:ext cx="493776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8  City Details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2" y="5413248"/>
            <a:ext cx="493776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sz="1400" dirty="0"/>
              <a:t>City-level operational drill-down and response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ptos Display"/>
              </a:defRPr>
            </a:pPr>
            <a:r>
              <a:rPr dirty="0"/>
              <a:t>Analytical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201168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40080" y="932688"/>
            <a:ext cx="201168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 sz="1200" dirty="0"/>
              <a:t>DATA &amp;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212080" cy="388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rPr sz="2000" dirty="0">
                <a:latin typeface="Time new roman"/>
              </a:rPr>
              <a:t>• </a:t>
            </a:r>
            <a:r>
              <a:rPr sz="2000" dirty="0" err="1">
                <a:latin typeface="Time new roman"/>
              </a:rPr>
              <a:t>Fact_Security_Incidents</a:t>
            </a:r>
            <a:r>
              <a:rPr sz="2000" dirty="0">
                <a:latin typeface="Time new roman"/>
              </a:rPr>
              <a:t> forms the central incident-level analytical table.</a:t>
            </a:r>
          </a:p>
          <a:p>
            <a:pPr algn="just">
              <a:spcAft>
                <a:spcPts val="8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rPr sz="2000" dirty="0">
                <a:latin typeface="Time new roman"/>
              </a:rPr>
              <a:t>• Asset inventory dimensions provide location, city and department context.</a:t>
            </a:r>
          </a:p>
          <a:p>
            <a:pPr algn="just">
              <a:spcAft>
                <a:spcPts val="8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rPr sz="2000" dirty="0">
                <a:latin typeface="Time new roman"/>
              </a:rPr>
              <a:t>• Incident response data supports response-time, resolution and status analysis.</a:t>
            </a:r>
          </a:p>
          <a:p>
            <a:pPr algn="just">
              <a:spcAft>
                <a:spcPts val="8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rPr sz="2000" dirty="0">
                <a:latin typeface="Time new roman"/>
              </a:rPr>
              <a:t>• The Date Table enables year, quarter, month, week, day and season analysis.</a:t>
            </a:r>
          </a:p>
          <a:p>
            <a:pPr algn="just">
              <a:spcAft>
                <a:spcPts val="8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rPr sz="2000" dirty="0">
                <a:latin typeface="Time new roman"/>
              </a:rPr>
              <a:t>• Measures such as Total Incidents, Critical Incidents, Average Risk Score and response metrics power the KPI laye</a:t>
            </a:r>
            <a:r>
              <a:rPr lang="en-US" sz="2000" dirty="0">
                <a:latin typeface="Time new roman"/>
              </a:rPr>
              <a:t>r</a:t>
            </a:r>
            <a:r>
              <a:rPr sz="2000" dirty="0">
                <a:latin typeface="Time new roman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14400"/>
            <a:ext cx="201168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095847" y="940210"/>
            <a:ext cx="201168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 sz="1200" dirty="0"/>
              <a:t>DECISION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23317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6172200" y="1417320"/>
            <a:ext cx="64008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336792" y="1545336"/>
            <a:ext cx="2011679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rPr dirty="0"/>
              <a:t>01  Monitor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901952"/>
            <a:ext cx="2011679" cy="2468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dirty="0"/>
              <a:t>Executive Intelligence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417320"/>
            <a:ext cx="23317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8823960" y="1417320"/>
            <a:ext cx="64008" cy="8412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8988552" y="1545336"/>
            <a:ext cx="2011679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rPr dirty="0"/>
              <a:t>02  Assess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1901952"/>
            <a:ext cx="2011679" cy="2468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dirty="0"/>
              <a:t>Security Risk Assessment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496312"/>
            <a:ext cx="23317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Rectangle 19"/>
          <p:cNvSpPr/>
          <p:nvPr/>
        </p:nvSpPr>
        <p:spPr>
          <a:xfrm>
            <a:off x="6172200" y="2496312"/>
            <a:ext cx="64008" cy="8412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6336792" y="2624328"/>
            <a:ext cx="2011679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rPr dirty="0"/>
              <a:t>03  Classify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2980944"/>
            <a:ext cx="2011679" cy="2468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dirty="0"/>
              <a:t>Threat &amp; Geospatial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3960" y="2496312"/>
            <a:ext cx="23317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Rectangle 23"/>
          <p:cNvSpPr/>
          <p:nvPr/>
        </p:nvSpPr>
        <p:spPr>
          <a:xfrm>
            <a:off x="8823960" y="2496312"/>
            <a:ext cx="64008" cy="8412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8988552" y="2624328"/>
            <a:ext cx="2011679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rPr dirty="0"/>
              <a:t>04  Explain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88552" y="2980944"/>
            <a:ext cx="2011679" cy="2468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dirty="0"/>
              <a:t>Temporal Analytics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575304"/>
            <a:ext cx="23317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Rectangle 27"/>
          <p:cNvSpPr/>
          <p:nvPr/>
        </p:nvSpPr>
        <p:spPr>
          <a:xfrm>
            <a:off x="6172200" y="3575304"/>
            <a:ext cx="64008" cy="8412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6336792" y="3703320"/>
            <a:ext cx="2011679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rPr dirty="0"/>
              <a:t>05  Respond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4059936"/>
            <a:ext cx="2011679" cy="2468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dirty="0"/>
              <a:t>Incident Response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23960" y="3575304"/>
            <a:ext cx="23317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Rectangle 31"/>
          <p:cNvSpPr/>
          <p:nvPr/>
        </p:nvSpPr>
        <p:spPr>
          <a:xfrm>
            <a:off x="8823960" y="3575304"/>
            <a:ext cx="64008" cy="8412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8988552" y="3703320"/>
            <a:ext cx="2011679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rPr dirty="0"/>
              <a:t>06  Predict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88552" y="4059936"/>
            <a:ext cx="2011679" cy="2468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dirty="0"/>
              <a:t>Predictive Intelligence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4654296"/>
            <a:ext cx="23317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6" name="Rectangle 35"/>
          <p:cNvSpPr/>
          <p:nvPr/>
        </p:nvSpPr>
        <p:spPr>
          <a:xfrm>
            <a:off x="6172200" y="4654296"/>
            <a:ext cx="64008" cy="8412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TextBox 36"/>
          <p:cNvSpPr txBox="1"/>
          <p:nvPr/>
        </p:nvSpPr>
        <p:spPr>
          <a:xfrm>
            <a:off x="6336792" y="4782312"/>
            <a:ext cx="2011679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rPr dirty="0"/>
              <a:t>07  Drill Down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5138928"/>
            <a:ext cx="2011679" cy="2468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dirty="0"/>
              <a:t>City Details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ptos Display"/>
              </a:defRPr>
            </a:pPr>
            <a:r>
              <a:rPr dirty="0"/>
              <a:t>04. Executive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972800" cy="52937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just">
              <a:defRPr sz="1500" b="1">
                <a:solidFill>
                  <a:srgbClr val="334155"/>
                </a:solidFill>
                <a:latin typeface="Aptos"/>
              </a:defRPr>
            </a:pPr>
            <a:r>
              <a:rPr sz="1600" dirty="0"/>
              <a:t>Provides a leadership-oriented summary of the organization’s security posture, combining high-level KPIs with department, city and risk-level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27632"/>
            <a:ext cx="6812280" cy="3977639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6474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77240" y="3387852"/>
            <a:ext cx="6446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4748B"/>
                </a:solidFill>
                <a:latin typeface="Aptos"/>
              </a:defRPr>
            </a:pPr>
            <a:r>
              <a:rPr dirty="0"/>
              <a:t>Paste the Executive Intelligence dashboard screenshot here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627632"/>
            <a:ext cx="182880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726675" y="1694162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 sz="1200" dirty="0"/>
              <a:t>KEY 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7" y="1950194"/>
            <a:ext cx="3794760" cy="2657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400" dirty="0"/>
              <a:t>• Overall Risk Score and gauge for an at-a-glance posture assessment.</a:t>
            </a:r>
          </a:p>
          <a:p>
            <a:pPr algn="just"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400" dirty="0"/>
              <a:t>• Total incidents, critical incidents, high-risk indicators and predicted risk.</a:t>
            </a:r>
          </a:p>
          <a:p>
            <a:pPr algn="just"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400" dirty="0"/>
              <a:t>• Risk Probability KPI to express the likelihood of adverse outcomes.</a:t>
            </a:r>
          </a:p>
          <a:p>
            <a:pPr algn="just"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400" dirty="0"/>
              <a:t>• City map and city/department visuals to identify concentration areas.</a:t>
            </a:r>
          </a:p>
          <a:p>
            <a:pPr algn="just"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400" dirty="0"/>
              <a:t>• Severity distribution and department-level summary 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4590288"/>
            <a:ext cx="164592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726677" y="4608575"/>
            <a:ext cx="1645922" cy="22159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 sz="1200" dirty="0"/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4965192"/>
            <a:ext cx="3794760" cy="68326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just">
              <a:defRPr sz="1150" b="0">
                <a:solidFill>
                  <a:srgbClr val="334155"/>
                </a:solidFill>
                <a:latin typeface="Aptos"/>
              </a:defRPr>
            </a:pPr>
            <a:r>
              <a:rPr sz="1400" dirty="0"/>
              <a:t>How serious is the current security situation, where is risk concentrated, and which indicators require immediate attention?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5AE4990-D2B6-8547-2987-B33743BE8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" y="1627632"/>
            <a:ext cx="6812279" cy="397763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ptos Display"/>
              </a:defRPr>
            </a:pPr>
            <a:r>
              <a:rPr dirty="0"/>
              <a:t>05. Security Risk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972800" cy="52937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just">
              <a:defRPr sz="1500" b="1">
                <a:solidFill>
                  <a:srgbClr val="334155"/>
                </a:solidFill>
                <a:latin typeface="Aptos"/>
              </a:defRPr>
            </a:pPr>
            <a:r>
              <a:rPr sz="1600" dirty="0"/>
              <a:t>Focuses specifically on risk exposure and severity, allowing analysts to understand how incidents are distributed across risk levels, departments, cities and attack types.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27632"/>
            <a:ext cx="6812280" cy="3977639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6474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77240" y="3387852"/>
            <a:ext cx="6446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4748B"/>
                </a:solidFill>
                <a:latin typeface="Aptos"/>
              </a:defRPr>
            </a:pPr>
            <a:r>
              <a:rPr dirty="0"/>
              <a:t>Paste the Security Risk Assessment dashboard screenshot here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627632"/>
            <a:ext cx="182880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726679" y="1645920"/>
            <a:ext cx="182880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 sz="1400" dirty="0"/>
              <a:t>KEY 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58099" y="1910510"/>
            <a:ext cx="3794760" cy="3054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400" dirty="0"/>
              <a:t>• Risk-level distribution through a donut chart.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400" dirty="0"/>
              <a:t>• Critical and high-risk incident KPI cards.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400" dirty="0"/>
              <a:t>• Average Risk Score and Threat Exposure indicators.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400" dirty="0"/>
              <a:t>• Department × severity comparison for incident concentration.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400" dirty="0"/>
              <a:t>• City × risk-level comparison to identify geographic hotspots.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400" dirty="0"/>
              <a:t>• Attack type × severity analysis for threat concentration.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7726679" y="4590288"/>
            <a:ext cx="164592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726679" y="4608575"/>
            <a:ext cx="164592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 lang="en-IN" sz="1400" dirty="0"/>
              <a:t>INTERPRETATION</a:t>
            </a:r>
            <a:endParaRPr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7726679" y="4965192"/>
            <a:ext cx="3794760" cy="8987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just">
              <a:defRPr sz="1150" b="0">
                <a:solidFill>
                  <a:srgbClr val="334155"/>
                </a:solidFill>
                <a:latin typeface="Aptos"/>
              </a:defRPr>
            </a:pPr>
            <a:r>
              <a:rPr sz="1400" dirty="0"/>
              <a:t>This dashboard supports prioritization. High-risk and critical clusters can be isolated by geography, department and attack type, helping teams focus limited security resources.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3251A2D-55CA-1A40-919F-FF8CD1C80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27633"/>
            <a:ext cx="6903720" cy="406524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ptos Display"/>
              </a:defRPr>
            </a:pPr>
            <a:r>
              <a:rPr dirty="0"/>
              <a:t>06. Threat Classification &amp; Geospatial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972800" cy="52937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just">
              <a:defRPr sz="1500" b="1">
                <a:solidFill>
                  <a:srgbClr val="334155"/>
                </a:solidFill>
                <a:latin typeface="Aptos"/>
              </a:defRPr>
            </a:pPr>
            <a:r>
              <a:rPr sz="1600" dirty="0"/>
              <a:t>Combines threat classification with location intelligence to show what attacks are occurring, where they occur, how severe they are, and how response time varies by city.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27632"/>
            <a:ext cx="6812280" cy="3977639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6474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7726679" y="1627632"/>
            <a:ext cx="182880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726679" y="1645920"/>
            <a:ext cx="182880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 sz="1400" dirty="0"/>
              <a:t>KEY 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895265"/>
            <a:ext cx="3794760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400" dirty="0"/>
              <a:t>• </a:t>
            </a:r>
            <a:r>
              <a:rPr sz="1300" dirty="0"/>
              <a:t>Attack-type ranking by total incident volume.</a:t>
            </a:r>
          </a:p>
          <a:p>
            <a:pPr algn="just"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300" dirty="0"/>
              <a:t>• Monthly incident trend to identify changing activity.</a:t>
            </a:r>
          </a:p>
          <a:p>
            <a:pPr algn="just"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300" dirty="0"/>
              <a:t>• City-level incident volume comparison.</a:t>
            </a:r>
          </a:p>
          <a:p>
            <a:pPr algn="just"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300" dirty="0"/>
              <a:t>• City × severity distribution for geographic risk profiling.</a:t>
            </a:r>
          </a:p>
          <a:p>
            <a:pPr algn="just"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300" dirty="0"/>
              <a:t>• Department/city response-time comparison.</a:t>
            </a:r>
          </a:p>
          <a:p>
            <a:pPr algn="just"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300" dirty="0"/>
              <a:t>• Interactive map combining city, severity, incident volume and impact context.</a:t>
            </a:r>
          </a:p>
          <a:p>
            <a:pPr algn="just"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300" dirty="0"/>
              <a:t>• City, attack type and severity filters.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4590288"/>
            <a:ext cx="164592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726679" y="4608575"/>
            <a:ext cx="164592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 sz="1400" dirty="0"/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4965192"/>
            <a:ext cx="3794760" cy="8371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just">
              <a:defRPr sz="1150" b="0">
                <a:solidFill>
                  <a:srgbClr val="334155"/>
                </a:solidFill>
                <a:latin typeface="Aptos"/>
              </a:defRPr>
            </a:pPr>
            <a:r>
              <a:rPr sz="1300" dirty="0"/>
              <a:t>The page is particularly useful for geographic prioritization. It connects the nature of attacks with the locations experiencing them and the operational response burden.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3EAF4E9-5A39-FA61-8FC1-EEADAA485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8369"/>
            <a:ext cx="6903720" cy="40746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ptos Display"/>
              </a:defRPr>
            </a:pPr>
            <a:r>
              <a:rPr dirty="0"/>
              <a:t>07. Temporal Incident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972800" cy="52937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just">
              <a:defRPr sz="1500" b="1">
                <a:solidFill>
                  <a:srgbClr val="334155"/>
                </a:solidFill>
                <a:latin typeface="Aptos"/>
              </a:defRPr>
            </a:pPr>
            <a:r>
              <a:rPr sz="1600" dirty="0"/>
              <a:t>Explains when incidents happen by analyzing season, month, week, day and hour, enabling organizations to recognize recurring patterns and potential high-activity periods.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27632"/>
            <a:ext cx="6812280" cy="3977639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6474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7726679" y="1627632"/>
            <a:ext cx="182880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726679" y="1645920"/>
            <a:ext cx="1828800" cy="2369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 sz="1300" dirty="0"/>
              <a:t>KEY 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58099" y="1879304"/>
            <a:ext cx="3794760" cy="2805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300" dirty="0"/>
              <a:t>• Peak Season, Peak Month, Peak Day and Peak Hour KPI cards.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300" dirty="0"/>
              <a:t>• Seasonal incident totals and severity composition.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300" dirty="0"/>
              <a:t>• Monthly attack-type trend line.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300" dirty="0"/>
              <a:t>• Weekly incident trend and day-of-week comparison.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300" dirty="0"/>
              <a:t>• Hourly incident distribution to locate peak activity windows.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300" dirty="0"/>
              <a:t>• Activity status table for quick operational context.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4590288"/>
            <a:ext cx="164592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726679" y="4681728"/>
            <a:ext cx="1645920" cy="2369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 lang="en-IN" sz="1300" dirty="0"/>
              <a:t>INTERPRETATION</a:t>
            </a:r>
            <a:endParaRPr sz="1300" dirty="0"/>
          </a:p>
        </p:txBody>
      </p:sp>
      <p:sp>
        <p:nvSpPr>
          <p:cNvPr id="14" name="TextBox 13"/>
          <p:cNvSpPr txBox="1"/>
          <p:nvPr/>
        </p:nvSpPr>
        <p:spPr>
          <a:xfrm>
            <a:off x="7726679" y="4965192"/>
            <a:ext cx="3794760" cy="8371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just">
              <a:defRPr sz="1150" b="0">
                <a:solidFill>
                  <a:srgbClr val="334155"/>
                </a:solidFill>
                <a:latin typeface="Aptos"/>
              </a:defRPr>
            </a:pPr>
            <a:r>
              <a:rPr sz="1300" dirty="0"/>
              <a:t>Temporal patterns can guide staffing, monitoring schedules and preventive controls. Repeated peaks may indicate periods requiring additional surveillance or preparedness.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BF2561C-890B-17EB-9C56-2549D1BB2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722" y="1508760"/>
            <a:ext cx="6881555" cy="409651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ptos Display"/>
              </a:defRPr>
            </a:pPr>
            <a:r>
              <a:rPr dirty="0"/>
              <a:t>08. Incident Response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972800" cy="52937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just">
              <a:defRPr sz="1500" b="1">
                <a:solidFill>
                  <a:srgbClr val="334155"/>
                </a:solidFill>
                <a:latin typeface="Aptos"/>
              </a:defRPr>
            </a:pPr>
            <a:r>
              <a:rPr sz="1600" dirty="0"/>
              <a:t>Measures the operational effectiveness of incident handling by comparing response activity, response time, resolution time, status and organizational location.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27632"/>
            <a:ext cx="6812280" cy="3977639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6474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7726679" y="1627632"/>
            <a:ext cx="182880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726679" y="1645920"/>
            <a:ext cx="182880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 lang="en-IN" sz="1400" dirty="0"/>
              <a:t>KEY COMPONENTS</a:t>
            </a:r>
            <a:endParaRPr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7726679" y="1965959"/>
            <a:ext cx="379476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280" dirty="0"/>
              <a:t>• Total responses, open incidents and closed incidents KPIs.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280" dirty="0"/>
              <a:t>• Average Response Time and Average Resolution Time.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280" dirty="0"/>
              <a:t>• Response status distribution and incident status distribution.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280" dirty="0"/>
              <a:t>• Severity × average response time comparison.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280" dirty="0"/>
              <a:t>• Department and city response-time comparisons.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280" dirty="0"/>
              <a:t>• City-level response/resolution summary table.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280" dirty="0"/>
              <a:t>• Monthly resolution-time trend.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4590288"/>
            <a:ext cx="164592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726679" y="4608575"/>
            <a:ext cx="164592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 sz="1400" dirty="0"/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4965192"/>
            <a:ext cx="3794760" cy="82484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just">
              <a:defRPr sz="1150" b="0">
                <a:solidFill>
                  <a:srgbClr val="334155"/>
                </a:solidFill>
                <a:latin typeface="Aptos"/>
              </a:defRPr>
            </a:pPr>
            <a:r>
              <a:rPr sz="1280" dirty="0"/>
              <a:t>This dashboard moves from threat detection to operational performance. It helps identify where response is slower, where incidents remain open, and whether resolution efficiency is improving.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17B6820-41B0-D584-08C9-380B3552A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1" y="1627632"/>
            <a:ext cx="6999092" cy="408736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ptos Display"/>
              </a:defRPr>
            </a:pPr>
            <a:r>
              <a:rPr dirty="0"/>
              <a:t>09. Predictive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972800" cy="52937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just">
              <a:defRPr sz="1500" b="1">
                <a:solidFill>
                  <a:srgbClr val="334155"/>
                </a:solidFill>
                <a:latin typeface="Aptos"/>
              </a:defRPr>
            </a:pPr>
            <a:r>
              <a:rPr sz="1600" dirty="0"/>
              <a:t>Adds a forward-looking layer by combining predictive risk indicators with incident history, attack types, locations and time trends.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27632"/>
            <a:ext cx="6812280" cy="3977639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6474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77240" y="3387852"/>
            <a:ext cx="6446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4748B"/>
                </a:solidFill>
                <a:latin typeface="Aptos"/>
              </a:defRPr>
            </a:pPr>
            <a:r>
              <a:rPr dirty="0"/>
              <a:t>Paste the Predictive Intelligence dashboard screenshot here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627632"/>
            <a:ext cx="182880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726679" y="1705452"/>
            <a:ext cx="182880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 sz="1400" dirty="0"/>
              <a:t>KEY 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0" y="1890693"/>
            <a:ext cx="3794760" cy="28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dirty="0"/>
              <a:t>• Risk Probability and Predicted Risk KPI cards.</a:t>
            </a:r>
          </a:p>
          <a:p>
            <a:pPr algn="just"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dirty="0"/>
              <a:t>• Predictive Risk Category distribution.</a:t>
            </a:r>
          </a:p>
          <a:p>
            <a:pPr algn="just"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dirty="0"/>
              <a:t>• Attack-type trend over time.</a:t>
            </a:r>
          </a:p>
          <a:p>
            <a:pPr algn="just"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dirty="0"/>
              <a:t>• Geographic map of predicted/risk-level incident concentration.</a:t>
            </a:r>
          </a:p>
          <a:p>
            <a:pPr algn="just"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dirty="0"/>
              <a:t>• Overall incident trend with date hierarchy drill-down.</a:t>
            </a:r>
          </a:p>
          <a:p>
            <a:pPr algn="just"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dirty="0"/>
              <a:t>• Attack type × risk level scatter analysis with incident volume and risk score.</a:t>
            </a:r>
          </a:p>
          <a:p>
            <a:pPr algn="just"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dirty="0"/>
              <a:t>• Filters for year, severity, attack type, department, risk level and city.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4590288"/>
            <a:ext cx="164592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726679" y="4657951"/>
            <a:ext cx="164592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 sz="1400" dirty="0"/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4965192"/>
            <a:ext cx="3794760" cy="8371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just">
              <a:defRPr sz="1150" b="0">
                <a:solidFill>
                  <a:srgbClr val="334155"/>
                </a:solidFill>
                <a:latin typeface="Aptos"/>
              </a:defRPr>
            </a:pPr>
            <a:r>
              <a:rPr sz="1300" dirty="0"/>
              <a:t>Use this view to move beyond descriptive reporting. Predictive indicators can support early-warning workflows, prioritization and proactive allocation of security resources.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8BD9E85-F41D-F784-5654-4A9291579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6812280" cy="42062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ptos Display"/>
              </a:defRPr>
            </a:pPr>
            <a:r>
              <a:rPr dirty="0"/>
              <a:t>10. Interactive Threat Analytics &amp; Incident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972800" cy="52937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just">
              <a:defRPr sz="1500" b="1">
                <a:solidFill>
                  <a:srgbClr val="334155"/>
                </a:solidFill>
                <a:latin typeface="Aptos"/>
              </a:defRPr>
            </a:pPr>
            <a:r>
              <a:rPr sz="1600" dirty="0"/>
              <a:t>Provides an interactive operational view that connects threat classification, incident severity, response performance, locations and attack impact.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27632"/>
            <a:ext cx="6812280" cy="3977639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6474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7726679" y="1627632"/>
            <a:ext cx="182880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722254" y="1665340"/>
            <a:ext cx="182880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 sz="1400" dirty="0"/>
              <a:t>KEY 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2254" y="1988305"/>
            <a:ext cx="3794760" cy="2605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300" dirty="0"/>
              <a:t>• Threat classification and city filters for rapid segmentation.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300" dirty="0"/>
              <a:t>• Annual incident trend and attack-type selection.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300" dirty="0"/>
              <a:t>• Average Response Time, Total Escalated Incidents and Threat Severity Index.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300" dirty="0"/>
              <a:t>• Severity distribution and total locations/incident KPIs.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300" dirty="0"/>
              <a:t>• Threat classification × attack count × response-time combination chart.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300" dirty="0"/>
              <a:t>• Filled map for geographic incident monitoring.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4590288"/>
            <a:ext cx="164592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726679" y="4608575"/>
            <a:ext cx="164592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 sz="1400" dirty="0"/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4965192"/>
            <a:ext cx="3794760" cy="8371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just">
              <a:defRPr sz="1150" b="0">
                <a:solidFill>
                  <a:srgbClr val="334155"/>
                </a:solidFill>
                <a:latin typeface="Aptos"/>
              </a:defRPr>
            </a:pPr>
            <a:r>
              <a:rPr sz="1300" dirty="0"/>
              <a:t>This page is designed for interactive investigation. Analysts can filter the dashboard to a threat class, city or severity and immediately inspect the related operational indicators.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7497CA0-9207-FBA3-9F81-518E6861E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22" y="1627632"/>
            <a:ext cx="7079225" cy="397763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ptos Display"/>
              </a:defRPr>
            </a:pPr>
            <a:r>
              <a:rPr dirty="0"/>
              <a:t>11. City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972800" cy="52937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just">
              <a:defRPr sz="1500" b="1">
                <a:solidFill>
                  <a:srgbClr val="334155"/>
                </a:solidFill>
                <a:latin typeface="Aptos"/>
              </a:defRPr>
            </a:pPr>
            <a:r>
              <a:rPr sz="1600" dirty="0"/>
              <a:t>Provides a focused operational drill-down for a selected city, emphasizing incident severity, attack mix, department response performance and overall threat severity.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27632"/>
            <a:ext cx="6812280" cy="3977639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6474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7726679" y="1627632"/>
            <a:ext cx="182880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726679" y="1645920"/>
            <a:ext cx="182880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 sz="1400" dirty="0"/>
              <a:t>KEY 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057400"/>
            <a:ext cx="3794760" cy="2480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280" dirty="0"/>
              <a:t>• Critical incident KPI for the selected city context.</a:t>
            </a:r>
          </a:p>
          <a:p>
            <a:pPr algn="just"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280" dirty="0"/>
              <a:t>• Department-level average response time comparison.</a:t>
            </a:r>
          </a:p>
          <a:p>
            <a:pPr algn="just"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280" dirty="0"/>
              <a:t>• Attack-type incident volume ranking.</a:t>
            </a:r>
          </a:p>
          <a:p>
            <a:pPr algn="just"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280" dirty="0"/>
              <a:t>• Attack-type response-time summary.</a:t>
            </a:r>
          </a:p>
          <a:p>
            <a:pPr algn="just"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280" dirty="0"/>
              <a:t>• Severity distribution for the city.</a:t>
            </a:r>
          </a:p>
          <a:p>
            <a:pPr algn="just"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280" dirty="0"/>
              <a:t>• Total incidents and Average Response Time KPIs.</a:t>
            </a:r>
          </a:p>
          <a:p>
            <a:pPr algn="just">
              <a:spcAft>
                <a:spcPts val="800"/>
              </a:spcAft>
              <a:defRPr sz="1250">
                <a:solidFill>
                  <a:srgbClr val="0F172A"/>
                </a:solidFill>
                <a:latin typeface="Aptos"/>
              </a:defRPr>
            </a:pPr>
            <a:r>
              <a:rPr sz="1280" dirty="0"/>
              <a:t>• Threat Severity Index for overall city-level risk context.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4590288"/>
            <a:ext cx="164592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726679" y="4608575"/>
            <a:ext cx="164592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 sz="1400" dirty="0"/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4965192"/>
            <a:ext cx="3794760" cy="83099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just">
              <a:defRPr sz="1150" b="0">
                <a:solidFill>
                  <a:srgbClr val="334155"/>
                </a:solidFill>
                <a:latin typeface="Aptos"/>
              </a:defRPr>
            </a:pPr>
            <a:r>
              <a:rPr sz="1290" dirty="0"/>
              <a:t>This page is useful after a geographic hotspot is identified. It allows decision-makers to move from enterprise-level patterns to a city-specific operational view.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54B832B-5613-4E32-9B77-CEB8DD94E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27632"/>
            <a:ext cx="6812280" cy="399592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ptos Display"/>
              </a:defRPr>
            </a:pPr>
            <a:r>
              <a:rPr dirty="0"/>
              <a:t>Cross-Dashboard KPI &amp; Visual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301752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576072" y="1133856"/>
            <a:ext cx="2871215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rPr dirty="0"/>
              <a:t>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39" y="1051560"/>
            <a:ext cx="548640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3593591" y="1133856"/>
            <a:ext cx="5340096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rPr dirty="0"/>
              <a:t>Primary KPIs / Visuals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06840" y="1051560"/>
            <a:ext cx="274320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9079992" y="1133856"/>
            <a:ext cx="2596896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rPr dirty="0"/>
              <a:t>Decision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527048"/>
            <a:ext cx="301752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576072" y="1609344"/>
            <a:ext cx="2871215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50" b="1">
                <a:solidFill>
                  <a:srgbClr val="0F172A"/>
                </a:solidFill>
                <a:latin typeface="Aptos"/>
              </a:defRPr>
            </a:pPr>
            <a:r>
              <a:rPr sz="1400" dirty="0"/>
              <a:t>Executive Intelligence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39" y="1527048"/>
            <a:ext cx="548640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3593591" y="1609344"/>
            <a:ext cx="5340096" cy="4678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Aptos"/>
              </a:defRPr>
            </a:pPr>
            <a:r>
              <a:rPr sz="1400" dirty="0"/>
              <a:t>Overall Risk Score • Predicted Risk • Risk Probability • Critical Incidents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40" y="1527048"/>
            <a:ext cx="274320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9079992" y="1609344"/>
            <a:ext cx="2596896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Aptos"/>
              </a:defRPr>
            </a:pPr>
            <a:r>
              <a:rPr sz="1400" dirty="0"/>
              <a:t>Executive posture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103120"/>
            <a:ext cx="3017520" cy="53035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576072" y="2185415"/>
            <a:ext cx="2871215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50" b="1">
                <a:solidFill>
                  <a:srgbClr val="0F172A"/>
                </a:solidFill>
                <a:latin typeface="Aptos"/>
              </a:defRPr>
            </a:pPr>
            <a:r>
              <a:rPr sz="1400" dirty="0"/>
              <a:t>Security Risk Assessment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39" y="2103120"/>
            <a:ext cx="5486400" cy="53035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3593591" y="2185415"/>
            <a:ext cx="5340096" cy="4678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Aptos"/>
              </a:defRPr>
            </a:pPr>
            <a:r>
              <a:rPr sz="1400" dirty="0"/>
              <a:t>Risk Level • Threat Exposure • Avg Risk Score • High/Critical Incidents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6840" y="2103120"/>
            <a:ext cx="2743200" cy="53035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9079992" y="2185415"/>
            <a:ext cx="2596896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Aptos"/>
              </a:defRPr>
            </a:pPr>
            <a:r>
              <a:rPr sz="1400" dirty="0"/>
              <a:t>Risk prioritization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679191"/>
            <a:ext cx="301752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576072" y="2761487"/>
            <a:ext cx="2871215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50" b="1">
                <a:solidFill>
                  <a:srgbClr val="0F172A"/>
                </a:solidFill>
                <a:latin typeface="Aptos"/>
              </a:defRPr>
            </a:pPr>
            <a:r>
              <a:rPr sz="1400" dirty="0"/>
              <a:t>Threat &amp; Geospatial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39" y="2679191"/>
            <a:ext cx="548640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3593591" y="2761487"/>
            <a:ext cx="5340096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Aptos"/>
              </a:defRPr>
            </a:pPr>
            <a:r>
              <a:rPr sz="1400" dirty="0"/>
              <a:t>Attack Type • City • Severity • Avg Response Time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6840" y="2679191"/>
            <a:ext cx="274320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9079992" y="2761487"/>
            <a:ext cx="2596896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Aptos"/>
              </a:defRPr>
            </a:pPr>
            <a:r>
              <a:rPr sz="1400" dirty="0"/>
              <a:t>Where &amp; what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255264"/>
            <a:ext cx="3017520" cy="53035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576072" y="3337560"/>
            <a:ext cx="2871215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50" b="1">
                <a:solidFill>
                  <a:srgbClr val="0F172A"/>
                </a:solidFill>
                <a:latin typeface="Aptos"/>
              </a:defRPr>
            </a:pPr>
            <a:r>
              <a:rPr sz="1400" dirty="0"/>
              <a:t>Temporal Analytics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39" y="3255264"/>
            <a:ext cx="5486400" cy="53035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3593591" y="3337560"/>
            <a:ext cx="5340096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Aptos"/>
              </a:defRPr>
            </a:pPr>
            <a:r>
              <a:rPr sz="1400" dirty="0"/>
              <a:t>Peak Season • Month • Day • Hour • Trends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06840" y="3255264"/>
            <a:ext cx="2743200" cy="53035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9079992" y="3337560"/>
            <a:ext cx="2596896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Aptos"/>
              </a:defRPr>
            </a:pPr>
            <a:r>
              <a:rPr sz="1400" dirty="0"/>
              <a:t>When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831335"/>
            <a:ext cx="301752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TextBox 36"/>
          <p:cNvSpPr txBox="1"/>
          <p:nvPr/>
        </p:nvSpPr>
        <p:spPr>
          <a:xfrm>
            <a:off x="576072" y="3913631"/>
            <a:ext cx="2871215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50" b="1">
                <a:solidFill>
                  <a:srgbClr val="0F172A"/>
                </a:solidFill>
                <a:latin typeface="Aptos"/>
              </a:defRPr>
            </a:pPr>
            <a:r>
              <a:rPr sz="1400" dirty="0"/>
              <a:t>Incident Response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20439" y="3831335"/>
            <a:ext cx="548640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9" name="TextBox 38"/>
          <p:cNvSpPr txBox="1"/>
          <p:nvPr/>
        </p:nvSpPr>
        <p:spPr>
          <a:xfrm>
            <a:off x="3593591" y="3913631"/>
            <a:ext cx="5340096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Aptos"/>
              </a:defRPr>
            </a:pPr>
            <a:r>
              <a:rPr sz="1400" dirty="0"/>
              <a:t>Open/Closed • Avg Response • Avg Resolution • Total Responses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06840" y="3831335"/>
            <a:ext cx="274320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1" name="TextBox 40"/>
          <p:cNvSpPr txBox="1"/>
          <p:nvPr/>
        </p:nvSpPr>
        <p:spPr>
          <a:xfrm>
            <a:off x="9079992" y="3913631"/>
            <a:ext cx="2596896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Aptos"/>
              </a:defRPr>
            </a:pPr>
            <a:r>
              <a:rPr sz="1400" dirty="0"/>
              <a:t>How fast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407408"/>
            <a:ext cx="3017520" cy="53035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3" name="TextBox 42"/>
          <p:cNvSpPr txBox="1"/>
          <p:nvPr/>
        </p:nvSpPr>
        <p:spPr>
          <a:xfrm>
            <a:off x="576072" y="4489704"/>
            <a:ext cx="2871215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50" b="1">
                <a:solidFill>
                  <a:srgbClr val="0F172A"/>
                </a:solidFill>
                <a:latin typeface="Aptos"/>
              </a:defRPr>
            </a:pPr>
            <a:r>
              <a:rPr sz="1400" dirty="0"/>
              <a:t>Predictive Intelligence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20439" y="4407408"/>
            <a:ext cx="5486400" cy="53035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5" name="TextBox 44"/>
          <p:cNvSpPr txBox="1"/>
          <p:nvPr/>
        </p:nvSpPr>
        <p:spPr>
          <a:xfrm>
            <a:off x="3593591" y="4489704"/>
            <a:ext cx="5340096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Aptos"/>
              </a:defRPr>
            </a:pPr>
            <a:r>
              <a:rPr sz="1400" dirty="0"/>
              <a:t>Predicted Risk • Risk Probability • Predictive Category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06840" y="4407408"/>
            <a:ext cx="2743200" cy="53035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7" name="TextBox 46"/>
          <p:cNvSpPr txBox="1"/>
          <p:nvPr/>
        </p:nvSpPr>
        <p:spPr>
          <a:xfrm>
            <a:off x="9079992" y="4489704"/>
            <a:ext cx="2596896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Aptos"/>
              </a:defRPr>
            </a:pPr>
            <a:r>
              <a:rPr sz="1400" dirty="0"/>
              <a:t>What next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983480"/>
            <a:ext cx="301752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9" name="TextBox 48"/>
          <p:cNvSpPr txBox="1"/>
          <p:nvPr/>
        </p:nvSpPr>
        <p:spPr>
          <a:xfrm>
            <a:off x="576072" y="5065776"/>
            <a:ext cx="2871215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50" b="1">
                <a:solidFill>
                  <a:srgbClr val="0F172A"/>
                </a:solidFill>
                <a:latin typeface="Aptos"/>
              </a:defRPr>
            </a:pPr>
            <a:r>
              <a:rPr sz="1400" dirty="0"/>
              <a:t>Interactive Threat Analytics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20439" y="4983480"/>
            <a:ext cx="548640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1" name="TextBox 50"/>
          <p:cNvSpPr txBox="1"/>
          <p:nvPr/>
        </p:nvSpPr>
        <p:spPr>
          <a:xfrm>
            <a:off x="3593591" y="5065776"/>
            <a:ext cx="5340096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Aptos"/>
              </a:defRPr>
            </a:pPr>
            <a:r>
              <a:rPr sz="1400" dirty="0"/>
              <a:t>Escalations • Severity Index • Locations • Impact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06840" y="4983480"/>
            <a:ext cx="274320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3" name="TextBox 52"/>
          <p:cNvSpPr txBox="1"/>
          <p:nvPr/>
        </p:nvSpPr>
        <p:spPr>
          <a:xfrm>
            <a:off x="9079992" y="5065776"/>
            <a:ext cx="2596896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Aptos"/>
              </a:defRPr>
            </a:pPr>
            <a:r>
              <a:rPr sz="1400" dirty="0"/>
              <a:t>Investigate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5559552"/>
            <a:ext cx="3017520" cy="53035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5" name="TextBox 54"/>
          <p:cNvSpPr txBox="1"/>
          <p:nvPr/>
        </p:nvSpPr>
        <p:spPr>
          <a:xfrm>
            <a:off x="576072" y="5641848"/>
            <a:ext cx="2871215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50" b="1">
                <a:solidFill>
                  <a:srgbClr val="0F172A"/>
                </a:solidFill>
                <a:latin typeface="Aptos"/>
              </a:defRPr>
            </a:pPr>
            <a:r>
              <a:rPr sz="1400" dirty="0"/>
              <a:t>City Details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20439" y="5559552"/>
            <a:ext cx="5486400" cy="53035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7" name="TextBox 56"/>
          <p:cNvSpPr txBox="1"/>
          <p:nvPr/>
        </p:nvSpPr>
        <p:spPr>
          <a:xfrm>
            <a:off x="3593591" y="5641848"/>
            <a:ext cx="5340096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Aptos"/>
              </a:defRPr>
            </a:pPr>
            <a:r>
              <a:rPr sz="1400" dirty="0"/>
              <a:t>City incidents • Attack mix • Department response • Severity Index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06840" y="5559552"/>
            <a:ext cx="2743200" cy="53035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9" name="TextBox 58"/>
          <p:cNvSpPr txBox="1"/>
          <p:nvPr/>
        </p:nvSpPr>
        <p:spPr>
          <a:xfrm>
            <a:off x="9079992" y="5641848"/>
            <a:ext cx="2596896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Aptos"/>
              </a:defRPr>
            </a:pPr>
            <a:r>
              <a:rPr sz="1400" dirty="0"/>
              <a:t>Local action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ptos Display"/>
              </a:defRPr>
            </a:pPr>
            <a:r>
              <a:rPr dirty="0"/>
              <a:t>Suggested Demonstration Flow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96012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85800" y="1078992"/>
            <a:ext cx="566928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rPr dirty="0"/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9032" y="978408"/>
            <a:ext cx="44805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rPr dirty="0"/>
              <a:t>Start with Executive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316736"/>
            <a:ext cx="448056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dirty="0"/>
              <a:t>Establish the overall risk posture and key management indicators.</a:t>
            </a:r>
          </a:p>
        </p:txBody>
      </p:sp>
      <p:sp>
        <p:nvSpPr>
          <p:cNvPr id="10" name="Oval 9"/>
          <p:cNvSpPr/>
          <p:nvPr/>
        </p:nvSpPr>
        <p:spPr>
          <a:xfrm>
            <a:off x="6263640" y="96012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263640" y="1078992"/>
            <a:ext cx="566928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rPr dirty="0"/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6872" y="978408"/>
            <a:ext cx="44805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rPr dirty="0"/>
              <a:t>Move to Security Risk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6872" y="1316736"/>
            <a:ext cx="448056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dirty="0"/>
              <a:t>Show where risk is concentrated and which severities dominate.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2258568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685800" y="2377439"/>
            <a:ext cx="566928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rPr dirty="0"/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32" y="2276856"/>
            <a:ext cx="44805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rPr dirty="0"/>
              <a:t>Classify &amp; Locate Threats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9032" y="2615184"/>
            <a:ext cx="448056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dirty="0"/>
              <a:t>Connect attack types to cities, severity and response burden.</a:t>
            </a:r>
          </a:p>
        </p:txBody>
      </p:sp>
      <p:sp>
        <p:nvSpPr>
          <p:cNvPr id="18" name="Oval 17"/>
          <p:cNvSpPr/>
          <p:nvPr/>
        </p:nvSpPr>
        <p:spPr>
          <a:xfrm>
            <a:off x="6263640" y="2258568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6263640" y="2377439"/>
            <a:ext cx="566928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rPr dirty="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2276856"/>
            <a:ext cx="44805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rPr dirty="0"/>
              <a:t>Explain the Time Dimension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6872" y="2615184"/>
            <a:ext cx="448056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dirty="0"/>
              <a:t>Identify peak seasons, months, days and hours.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3557015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685800" y="3675887"/>
            <a:ext cx="566928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rPr dirty="0"/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2" y="3575303"/>
            <a:ext cx="44805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rPr dirty="0"/>
              <a:t>Evaluate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3913631"/>
            <a:ext cx="448056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dirty="0"/>
              <a:t>Discuss response time, resolution time and open/closed status.</a:t>
            </a:r>
          </a:p>
        </p:txBody>
      </p:sp>
      <p:sp>
        <p:nvSpPr>
          <p:cNvPr id="26" name="Oval 25"/>
          <p:cNvSpPr/>
          <p:nvPr/>
        </p:nvSpPr>
        <p:spPr>
          <a:xfrm>
            <a:off x="6263640" y="3557015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6263640" y="3675887"/>
            <a:ext cx="566928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rPr dirty="0"/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6872" y="3575303"/>
            <a:ext cx="44805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rPr dirty="0"/>
              <a:t>Introduce Predictive Intelligence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6872" y="3913631"/>
            <a:ext cx="448056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dirty="0"/>
              <a:t>Show risk probability and predicted risk indicators.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" y="4855464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685800" y="4974336"/>
            <a:ext cx="566928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rPr dirty="0"/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99032" y="4873751"/>
            <a:ext cx="44805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rPr dirty="0"/>
              <a:t>Investigate Interactively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99032" y="5212079"/>
            <a:ext cx="448056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dirty="0"/>
              <a:t>Use filters to demonstrate a focused threat/city scenario.</a:t>
            </a:r>
          </a:p>
        </p:txBody>
      </p:sp>
      <p:sp>
        <p:nvSpPr>
          <p:cNvPr id="34" name="Oval 33"/>
          <p:cNvSpPr/>
          <p:nvPr/>
        </p:nvSpPr>
        <p:spPr>
          <a:xfrm>
            <a:off x="6263640" y="4855464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6263640" y="4974336"/>
            <a:ext cx="566928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rPr dirty="0"/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76872" y="4873751"/>
            <a:ext cx="44805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rPr dirty="0"/>
              <a:t>Finish with City Details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76872" y="5212079"/>
            <a:ext cx="448056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dirty="0"/>
              <a:t>Translate enterprise findings into a local operational action.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14BC09-F8D8-C1EF-EF74-4D53144462EC}"/>
              </a:ext>
            </a:extLst>
          </p:cNvPr>
          <p:cNvSpPr txBox="1"/>
          <p:nvPr/>
        </p:nvSpPr>
        <p:spPr>
          <a:xfrm>
            <a:off x="868680" y="2240280"/>
            <a:ext cx="9784080" cy="2328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The eight dashboards provide complementary views rather than isolated reports.</a:t>
            </a:r>
          </a:p>
          <a:p>
            <a:pPr algn="just">
              <a:spcAft>
                <a:spcPts val="8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Descriptive analytics explain what happened; temporal and geospatial views explain when and where.</a:t>
            </a:r>
          </a:p>
          <a:p>
            <a:pPr algn="just">
              <a:spcAft>
                <a:spcPts val="8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Incident response analytics measure operational performance and resolution efficiency.</a:t>
            </a:r>
          </a:p>
          <a:p>
            <a:pPr algn="just">
              <a:spcAft>
                <a:spcPts val="8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Predictive indicators extend the dashboard from monitoring toward proactive risk management.</a:t>
            </a:r>
          </a:p>
          <a:p>
            <a:pPr algn="just">
              <a:spcAft>
                <a:spcPts val="8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Interactive filters and drill-down views support investigation from enterprise level to city level.</a:t>
            </a:r>
          </a:p>
          <a:p>
            <a:pPr algn="just">
              <a:spcAft>
                <a:spcPts val="8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Together, the dashboards form a practical decision-support layer for cybersecurity monitoring and incident management.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3B0CD5-C788-D099-78AF-0542A055F4FC}"/>
              </a:ext>
            </a:extLst>
          </p:cNvPr>
          <p:cNvSpPr txBox="1"/>
          <p:nvPr/>
        </p:nvSpPr>
        <p:spPr>
          <a:xfrm>
            <a:off x="731520" y="777240"/>
            <a:ext cx="4572000" cy="49859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255192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ank You Ppt PowerPoint Presentation Show Graphics Template">
            <a:extLst>
              <a:ext uri="{FF2B5EF4-FFF2-40B4-BE49-F238E27FC236}">
                <a16:creationId xmlns:a16="http://schemas.microsoft.com/office/drawing/2014/main" id="{1976F800-3A1B-865A-1AF2-581F078E2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156"/>
            <a:ext cx="12192000" cy="6878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DEBBD2-4598-7F3D-AB25-6B9308295CDE}"/>
              </a:ext>
            </a:extLst>
          </p:cNvPr>
          <p:cNvSpPr txBox="1"/>
          <p:nvPr/>
        </p:nvSpPr>
        <p:spPr>
          <a:xfrm>
            <a:off x="8666480" y="5250765"/>
            <a:ext cx="35255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Presented By:</a:t>
            </a:r>
          </a:p>
          <a:p>
            <a:r>
              <a:rPr lang="en-IN" sz="2400" dirty="0"/>
              <a:t>𝒮𝒶𝓃𝒹𝒾𝓅 𝓀𝒶𝓁𝒶</a:t>
            </a:r>
          </a:p>
        </p:txBody>
      </p:sp>
    </p:spTree>
    <p:extLst>
      <p:ext uri="{BB962C8B-B14F-4D97-AF65-F5344CB8AC3E}">
        <p14:creationId xmlns:p14="http://schemas.microsoft.com/office/powerpoint/2010/main" val="390435046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80</TotalTime>
  <Words>1596</Words>
  <Application>Microsoft Office PowerPoint</Application>
  <PresentationFormat>Widescreen</PresentationFormat>
  <Paragraphs>209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Haettenschweiler</vt:lpstr>
      <vt:lpstr>Time new roman</vt:lpstr>
      <vt:lpstr>Trade Gothic Next Light</vt:lpstr>
      <vt:lpstr>Editorial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Sandip Kala</cp:lastModifiedBy>
  <cp:revision>3</cp:revision>
  <dcterms:created xsi:type="dcterms:W3CDTF">2013-01-27T09:14:16Z</dcterms:created>
  <dcterms:modified xsi:type="dcterms:W3CDTF">2026-08-21T10:07:40Z</dcterms:modified>
  <cp:category/>
</cp:coreProperties>
</file>